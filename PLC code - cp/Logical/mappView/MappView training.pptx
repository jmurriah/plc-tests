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1" r:id="rId21"/>
    <p:sldId id="275" r:id="rId22"/>
    <p:sldId id="277" r:id="rId23"/>
    <p:sldId id="278" r:id="rId24"/>
    <p:sldId id="279" r:id="rId25"/>
  </p:sldIdLst>
  <p:sldSz cx="9144000" cy="5143500" type="screen16x9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EFI_Logo_RGB.eps"/>
          <p:cNvPicPr/>
          <p:nvPr/>
        </p:nvPicPr>
        <p:blipFill>
          <a:blip r:embed="rId14"/>
          <a:stretch/>
        </p:blipFill>
        <p:spPr>
          <a:xfrm>
            <a:off x="-51480" y="4292640"/>
            <a:ext cx="1241280" cy="947160"/>
          </a:xfrm>
          <a:prstGeom prst="rect">
            <a:avLst/>
          </a:prstGeom>
          <a:ln w="0">
            <a:noFill/>
          </a:ln>
        </p:spPr>
      </p:pic>
      <p:pic>
        <p:nvPicPr>
          <p:cNvPr id="8" name="Picture 9" descr="EFI_FuelCell_D17_Corporate_RGB.png"/>
          <p:cNvPicPr/>
          <p:nvPr/>
        </p:nvPicPr>
        <p:blipFill>
          <a:blip r:embed="rId15"/>
          <a:stretch/>
        </p:blipFill>
        <p:spPr>
          <a:xfrm>
            <a:off x="8521560" y="4685400"/>
            <a:ext cx="373320" cy="363960"/>
          </a:xfrm>
          <a:prstGeom prst="rect">
            <a:avLst/>
          </a:prstGeom>
          <a:ln w="0">
            <a:noFill/>
          </a:ln>
        </p:spPr>
      </p:pic>
      <p:pic>
        <p:nvPicPr>
          <p:cNvPr id="2" name="Picture 7" descr="EFI_Logo_RGB.eps"/>
          <p:cNvPicPr/>
          <p:nvPr/>
        </p:nvPicPr>
        <p:blipFill>
          <a:blip r:embed="rId14"/>
          <a:stretch/>
        </p:blipFill>
        <p:spPr>
          <a:xfrm>
            <a:off x="6885720" y="1264680"/>
            <a:ext cx="2078640" cy="1586880"/>
          </a:xfrm>
          <a:prstGeom prst="rect">
            <a:avLst/>
          </a:prstGeom>
          <a:ln w="0">
            <a:noFill/>
          </a:ln>
        </p:spPr>
      </p:pic>
      <p:pic>
        <p:nvPicPr>
          <p:cNvPr id="3" name="Picture 11" descr="EFI_FuelCell_D1_CMYK copy copy.png"/>
          <p:cNvPicPr/>
          <p:nvPr/>
        </p:nvPicPr>
        <p:blipFill>
          <a:blip r:embed="rId16"/>
          <a:srcRect l="28292" b="-46034"/>
          <a:stretch/>
        </p:blipFill>
        <p:spPr>
          <a:xfrm>
            <a:off x="0" y="2587320"/>
            <a:ext cx="8304120" cy="70272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/>
          <p:cNvSpPr/>
          <p:nvPr/>
        </p:nvSpPr>
        <p:spPr>
          <a:xfrm>
            <a:off x="8305920" y="4551840"/>
            <a:ext cx="836280" cy="5900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7" descr="EFI_Logo_RGB.eps"/>
          <p:cNvPicPr/>
          <p:nvPr/>
        </p:nvPicPr>
        <p:blipFill>
          <a:blip r:embed="rId14"/>
          <a:stretch/>
        </p:blipFill>
        <p:spPr>
          <a:xfrm>
            <a:off x="-51480" y="4292640"/>
            <a:ext cx="1241280" cy="947160"/>
          </a:xfrm>
          <a:prstGeom prst="rect">
            <a:avLst/>
          </a:prstGeom>
          <a:ln w="0">
            <a:noFill/>
          </a:ln>
        </p:spPr>
      </p:pic>
      <p:pic>
        <p:nvPicPr>
          <p:cNvPr id="44" name="Picture 9" descr="EFI_FuelCell_D17_Corporate_RGB.png"/>
          <p:cNvPicPr/>
          <p:nvPr/>
        </p:nvPicPr>
        <p:blipFill>
          <a:blip r:embed="rId15"/>
          <a:stretch/>
        </p:blipFill>
        <p:spPr>
          <a:xfrm>
            <a:off x="8521560" y="4685400"/>
            <a:ext cx="373320" cy="363960"/>
          </a:xfrm>
          <a:prstGeom prst="rect">
            <a:avLst/>
          </a:prstGeom>
          <a:ln w="0">
            <a:noFill/>
          </a:ln>
        </p:spPr>
      </p:pic>
      <p:pic>
        <p:nvPicPr>
          <p:cNvPr id="45" name="Picture 8"/>
          <p:cNvPicPr/>
          <p:nvPr/>
        </p:nvPicPr>
        <p:blipFill>
          <a:blip r:embed="rId16"/>
          <a:stretch/>
        </p:blipFill>
        <p:spPr>
          <a:xfrm>
            <a:off x="457200" y="1063080"/>
            <a:ext cx="8227800" cy="169560"/>
          </a:xfrm>
          <a:prstGeom prst="rect">
            <a:avLst/>
          </a:prstGeom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localhost:81/index.html" TargetMode="Externa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512640" y="1549800"/>
            <a:ext cx="6828120" cy="11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3600" b="0" strike="noStrike" spc="-1">
                <a:solidFill>
                  <a:srgbClr val="000100"/>
                </a:solidFill>
                <a:latin typeface="Georgia"/>
                <a:ea typeface="DejaVu Sans"/>
              </a:rPr>
              <a:t>MappView for EFI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1114920" y="3308040"/>
            <a:ext cx="6399000" cy="59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5000" lnSpcReduction="20000"/>
          </a:bodyPr>
          <a:lstStyle/>
          <a:p>
            <a:pPr algn="r">
              <a:lnSpc>
                <a:spcPct val="100000"/>
              </a:lnSpc>
              <a:spcBef>
                <a:spcPts val="439"/>
              </a:spcBef>
              <a:tabLst>
                <a:tab pos="0" algn="l"/>
              </a:tabLst>
            </a:pPr>
            <a:r>
              <a:rPr lang="en-US" sz="2200" b="0" strike="noStrike" spc="-1">
                <a:solidFill>
                  <a:srgbClr val="000100"/>
                </a:solidFill>
                <a:latin typeface="Georgia"/>
                <a:ea typeface="DejaVu Sans"/>
              </a:rPr>
              <a:t>Jorge Murria</a:t>
            </a:r>
            <a:br/>
            <a:r>
              <a:rPr lang="en-US" sz="2200" b="0" strike="noStrike" spc="-1">
                <a:solidFill>
                  <a:srgbClr val="000100"/>
                </a:solidFill>
                <a:latin typeface="Georgia"/>
                <a:ea typeface="DejaVu Sans"/>
              </a:rPr>
              <a:t>27/Oct/2020</a:t>
            </a:r>
            <a:endParaRPr lang="en-US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000100"/>
                </a:solidFill>
                <a:latin typeface="Georgia"/>
                <a:ea typeface="DejaVu Sans"/>
              </a:rPr>
              <a:t>Introduction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457200" y="1433520"/>
            <a:ext cx="8227800" cy="31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100"/>
                </a:solidFill>
                <a:latin typeface="Georgia"/>
                <a:ea typeface="DejaVu Sans"/>
              </a:rPr>
              <a:t>Visualization technology in B&amp;R PLC</a:t>
            </a:r>
            <a:endParaRPr lang="en-US" sz="28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Multi-Client/Multi-user</a:t>
            </a:r>
            <a:endParaRPr lang="en-US" sz="26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Based in OPC UA</a:t>
            </a:r>
            <a:endParaRPr lang="en-US" sz="2600" b="0" strike="noStrike" spc="-1">
              <a:latin typeface="Arial"/>
            </a:endParaRPr>
          </a:p>
          <a:p>
            <a:pPr marL="1143000" lvl="2" indent="-226800">
              <a:lnSpc>
                <a:spcPct val="100000"/>
              </a:lnSpc>
              <a:spcBef>
                <a:spcPts val="479"/>
              </a:spcBef>
              <a:buClr>
                <a:srgbClr val="0001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100"/>
                </a:solidFill>
                <a:latin typeface="Georgia"/>
                <a:ea typeface="DejaVu Sans"/>
              </a:rPr>
              <a:t>Fast, security, events</a:t>
            </a:r>
            <a:endParaRPr lang="en-US" sz="22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Web based technology</a:t>
            </a:r>
            <a:endParaRPr lang="en-US" sz="2600" b="0" strike="noStrike" spc="-1">
              <a:latin typeface="Arial"/>
            </a:endParaRPr>
          </a:p>
          <a:p>
            <a:pPr marL="1143000" lvl="2" indent="-22680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100"/>
                </a:solidFill>
                <a:latin typeface="Georgia"/>
                <a:ea typeface="DejaVu Sans"/>
              </a:rPr>
              <a:t>Based in Identifyers</a:t>
            </a:r>
            <a:endParaRPr lang="en-US" sz="22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Integrated HELP in AS gives a lot of information</a:t>
            </a:r>
            <a:endParaRPr lang="en-US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r>
              <a:rPr lang="en-US" sz="1600" b="0" strike="noStrike" spc="-1">
                <a:solidFill>
                  <a:srgbClr val="000100"/>
                </a:solidFill>
                <a:latin typeface="Georgia"/>
                <a:ea typeface="DejaVu Sans"/>
              </a:rPr>
              <a:t>						</a:t>
            </a:r>
            <a:r>
              <a:rPr lang="en-US" sz="1600" b="0" u="sng" strike="noStrike" spc="-1">
                <a:solidFill>
                  <a:srgbClr val="0000FF"/>
                </a:solidFill>
                <a:uFillTx/>
                <a:latin typeface="Georgia"/>
                <a:ea typeface="DejaVu Sans"/>
                <a:hlinkClick r:id="rId2"/>
              </a:rPr>
              <a:t>http://localhost:81/index.html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1600" b="0" strike="noStrike" spc="-1">
              <a:latin typeface="Arial"/>
            </a:endParaRPr>
          </a:p>
        </p:txBody>
      </p:sp>
      <p:sp>
        <p:nvSpPr>
          <p:cNvPr id="88" name="CustomShape 3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43A6B298-3000-465C-A210-C2CBF2606132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2</a:t>
            </a:fld>
            <a:endParaRPr lang="en-US" sz="1000" b="0" strike="noStrike" spc="-1">
              <a:latin typeface="Arial"/>
            </a:endParaRPr>
          </a:p>
        </p:txBody>
      </p:sp>
      <p:pic>
        <p:nvPicPr>
          <p:cNvPr id="89" name="Picture 88"/>
          <p:cNvPicPr/>
          <p:nvPr/>
        </p:nvPicPr>
        <p:blipFill>
          <a:blip r:embed="rId3"/>
          <a:stretch/>
        </p:blipFill>
        <p:spPr>
          <a:xfrm>
            <a:off x="4995360" y="1936800"/>
            <a:ext cx="3918960" cy="2285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000100"/>
                </a:solidFill>
                <a:latin typeface="Georgia"/>
                <a:ea typeface="DejaVu Sans"/>
              </a:rPr>
              <a:t>Topologies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91" name="CustomShape 2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9F3079AE-5E1C-4A7E-9C9A-BBAD240AE47C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3</a:t>
            </a:fld>
            <a:endParaRPr lang="en-US" sz="1000" b="0" strike="noStrike" spc="-1">
              <a:latin typeface="Arial"/>
            </a:endParaRPr>
          </a:p>
        </p:txBody>
      </p:sp>
      <p:pic>
        <p:nvPicPr>
          <p:cNvPr id="92" name="Picture 91"/>
          <p:cNvPicPr/>
          <p:nvPr/>
        </p:nvPicPr>
        <p:blipFill>
          <a:blip r:embed="rId2"/>
          <a:stretch/>
        </p:blipFill>
        <p:spPr>
          <a:xfrm>
            <a:off x="511200" y="1371600"/>
            <a:ext cx="4973760" cy="2956680"/>
          </a:xfrm>
          <a:prstGeom prst="rect">
            <a:avLst/>
          </a:prstGeom>
          <a:ln w="0">
            <a:noFill/>
          </a:ln>
        </p:spPr>
      </p:pic>
      <p:pic>
        <p:nvPicPr>
          <p:cNvPr id="93" name="Picture 92"/>
          <p:cNvPicPr/>
          <p:nvPr/>
        </p:nvPicPr>
        <p:blipFill>
          <a:blip r:embed="rId3"/>
          <a:stretch/>
        </p:blipFill>
        <p:spPr>
          <a:xfrm>
            <a:off x="5943600" y="1828800"/>
            <a:ext cx="2992320" cy="2092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000100"/>
                </a:solidFill>
                <a:latin typeface="Georgia"/>
                <a:ea typeface="DejaVu Sans"/>
              </a:rPr>
              <a:t>Structure of application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457200" y="1433520"/>
            <a:ext cx="8227800" cy="31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100"/>
                </a:solidFill>
                <a:latin typeface="Georgia"/>
                <a:ea typeface="DejaVu Sans"/>
              </a:rPr>
              <a:t>MappView folder in Logical</a:t>
            </a:r>
            <a:endParaRPr lang="en-US" sz="28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Full application definition</a:t>
            </a:r>
            <a:endParaRPr lang="en-US" sz="2600" b="0" strike="noStrike" spc="-1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App definition in Configuration</a:t>
            </a:r>
            <a:endParaRPr lang="en-US" sz="26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479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Running events and bindings</a:t>
            </a:r>
            <a:endParaRPr lang="en-US" sz="26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XML files</a:t>
            </a:r>
            <a:endParaRPr lang="en-US" sz="26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600" b="0" strike="noStrike" spc="-1">
              <a:latin typeface="Arial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E88705E7-F123-4A3B-8060-B7A6CA35693C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4</a:t>
            </a:fld>
            <a:endParaRPr lang="en-US" sz="1000" b="0" strike="noStrike" spc="-1">
              <a:latin typeface="Arial"/>
            </a:endParaRPr>
          </a:p>
        </p:txBody>
      </p:sp>
      <p:pic>
        <p:nvPicPr>
          <p:cNvPr id="97" name="Picture 96"/>
          <p:cNvPicPr/>
          <p:nvPr/>
        </p:nvPicPr>
        <p:blipFill>
          <a:blip r:embed="rId2"/>
          <a:stretch/>
        </p:blipFill>
        <p:spPr>
          <a:xfrm>
            <a:off x="5486400" y="0"/>
            <a:ext cx="3001320" cy="2869920"/>
          </a:xfrm>
          <a:prstGeom prst="rect">
            <a:avLst/>
          </a:prstGeom>
          <a:ln w="0">
            <a:noFill/>
          </a:ln>
        </p:spPr>
      </p:pic>
      <p:pic>
        <p:nvPicPr>
          <p:cNvPr id="98" name="Picture 97"/>
          <p:cNvPicPr/>
          <p:nvPr/>
        </p:nvPicPr>
        <p:blipFill>
          <a:blip r:embed="rId3"/>
          <a:stretch/>
        </p:blipFill>
        <p:spPr>
          <a:xfrm>
            <a:off x="6013440" y="2606040"/>
            <a:ext cx="3129480" cy="2536560"/>
          </a:xfrm>
          <a:prstGeom prst="rect">
            <a:avLst/>
          </a:prstGeom>
          <a:ln w="0">
            <a:noFill/>
          </a:ln>
        </p:spPr>
      </p:pic>
      <p:pic>
        <p:nvPicPr>
          <p:cNvPr id="99" name="Picture 98"/>
          <p:cNvPicPr/>
          <p:nvPr/>
        </p:nvPicPr>
        <p:blipFill>
          <a:blip r:embed="rId4"/>
          <a:stretch/>
        </p:blipFill>
        <p:spPr>
          <a:xfrm>
            <a:off x="143640" y="3886200"/>
            <a:ext cx="1912680" cy="1141920"/>
          </a:xfrm>
          <a:prstGeom prst="rect">
            <a:avLst/>
          </a:prstGeom>
          <a:ln w="0">
            <a:noFill/>
          </a:ln>
        </p:spPr>
      </p:pic>
      <p:pic>
        <p:nvPicPr>
          <p:cNvPr id="100" name="Picture 99"/>
          <p:cNvPicPr/>
          <p:nvPr/>
        </p:nvPicPr>
        <p:blipFill>
          <a:blip r:embed="rId5"/>
          <a:stretch/>
        </p:blipFill>
        <p:spPr>
          <a:xfrm>
            <a:off x="2971800" y="3200400"/>
            <a:ext cx="2284920" cy="1928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000100"/>
                </a:solidFill>
                <a:latin typeface="Georgia"/>
                <a:ea typeface="DejaVu Sans"/>
              </a:rPr>
              <a:t>Elements of HMI (1)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2" name="CustomShape 2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EB529E2B-3880-4690-849B-B70F216A6166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5</a:t>
            </a:fld>
            <a:endParaRPr lang="en-US" sz="1000" b="0" strike="noStrike" spc="-1">
              <a:latin typeface="Arial"/>
            </a:endParaRPr>
          </a:p>
        </p:txBody>
      </p:sp>
      <p:pic>
        <p:nvPicPr>
          <p:cNvPr id="103" name="Picture 102"/>
          <p:cNvPicPr/>
          <p:nvPr/>
        </p:nvPicPr>
        <p:blipFill>
          <a:blip r:embed="rId2"/>
          <a:stretch/>
        </p:blipFill>
        <p:spPr>
          <a:xfrm>
            <a:off x="1735920" y="1565280"/>
            <a:ext cx="5545800" cy="3234240"/>
          </a:xfrm>
          <a:prstGeom prst="rect">
            <a:avLst/>
          </a:prstGeom>
          <a:ln w="0">
            <a:noFill/>
          </a:ln>
        </p:spPr>
      </p:pic>
      <p:sp>
        <p:nvSpPr>
          <p:cNvPr id="104" name="CustomShape 3"/>
          <p:cNvSpPr/>
          <p:nvPr/>
        </p:nvSpPr>
        <p:spPr>
          <a:xfrm>
            <a:off x="2325600" y="1864800"/>
            <a:ext cx="4956120" cy="2934720"/>
          </a:xfrm>
          <a:prstGeom prst="rect">
            <a:avLst/>
          </a:prstGeom>
          <a:noFill/>
          <a:ln w="1908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5" name="CustomShape 4"/>
          <p:cNvSpPr/>
          <p:nvPr/>
        </p:nvSpPr>
        <p:spPr>
          <a:xfrm>
            <a:off x="1735920" y="1564200"/>
            <a:ext cx="549000" cy="3235320"/>
          </a:xfrm>
          <a:prstGeom prst="rect">
            <a:avLst/>
          </a:prstGeom>
          <a:noFill/>
          <a:ln w="1908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6" name="CustomShape 5"/>
          <p:cNvSpPr/>
          <p:nvPr/>
        </p:nvSpPr>
        <p:spPr>
          <a:xfrm>
            <a:off x="2322000" y="1564200"/>
            <a:ext cx="4959720" cy="263520"/>
          </a:xfrm>
          <a:prstGeom prst="rect">
            <a:avLst/>
          </a:prstGeom>
          <a:noFill/>
          <a:ln w="1908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7" name="CustomShape 6"/>
          <p:cNvSpPr/>
          <p:nvPr/>
        </p:nvSpPr>
        <p:spPr>
          <a:xfrm>
            <a:off x="7543800" y="1600200"/>
            <a:ext cx="1141920" cy="227520"/>
          </a:xfrm>
          <a:prstGeom prst="wedgeRoundRectCallout">
            <a:avLst>
              <a:gd name="adj1" fmla="val -72162"/>
              <a:gd name="adj2" fmla="val 208018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Contents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8" name="CustomShape 7"/>
          <p:cNvSpPr/>
          <p:nvPr/>
        </p:nvSpPr>
        <p:spPr>
          <a:xfrm>
            <a:off x="7543800" y="2286000"/>
            <a:ext cx="1141920" cy="227520"/>
          </a:xfrm>
          <a:prstGeom prst="wedgeRoundRectCallout">
            <a:avLst>
              <a:gd name="adj1" fmla="val -81611"/>
              <a:gd name="adj2" fmla="val 130342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Widget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9" name="CustomShape 8"/>
          <p:cNvSpPr/>
          <p:nvPr/>
        </p:nvSpPr>
        <p:spPr>
          <a:xfrm>
            <a:off x="7543800" y="2971800"/>
            <a:ext cx="1141920" cy="456120"/>
          </a:xfrm>
          <a:prstGeom prst="wedgeRoundRectCallout">
            <a:avLst>
              <a:gd name="adj1" fmla="val -153240"/>
              <a:gd name="adj2" fmla="val 112388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Compound</a:t>
            </a:r>
            <a:endParaRPr lang="en-US" sz="1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Widget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10" name="CustomShape 9"/>
          <p:cNvSpPr/>
          <p:nvPr/>
        </p:nvSpPr>
        <p:spPr>
          <a:xfrm>
            <a:off x="6629400" y="1143000"/>
            <a:ext cx="913320" cy="227520"/>
          </a:xfrm>
          <a:prstGeom prst="wedgeRoundRectCallout">
            <a:avLst>
              <a:gd name="adj1" fmla="val -89550"/>
              <a:gd name="adj2" fmla="val 277356"/>
              <a:gd name="adj3" fmla="val 16667"/>
            </a:avLst>
          </a:prstGeom>
          <a:solidFill>
            <a:srgbClr val="FFB66C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DejaVu Sans"/>
              </a:rPr>
              <a:t>Dropdown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1" name="CustomShape 10"/>
          <p:cNvSpPr/>
          <p:nvPr/>
        </p:nvSpPr>
        <p:spPr>
          <a:xfrm>
            <a:off x="5534280" y="1143000"/>
            <a:ext cx="913320" cy="227520"/>
          </a:xfrm>
          <a:prstGeom prst="wedgeRoundRectCallout">
            <a:avLst>
              <a:gd name="adj1" fmla="val -50351"/>
              <a:gd name="adj2" fmla="val 288518"/>
              <a:gd name="adj3" fmla="val 16667"/>
            </a:avLst>
          </a:prstGeom>
          <a:solidFill>
            <a:srgbClr val="FFB66C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DejaVu Sans"/>
              </a:rPr>
              <a:t>ImageList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2" name="CustomShape 11"/>
          <p:cNvSpPr/>
          <p:nvPr/>
        </p:nvSpPr>
        <p:spPr>
          <a:xfrm>
            <a:off x="4114800" y="1143000"/>
            <a:ext cx="913320" cy="227520"/>
          </a:xfrm>
          <a:prstGeom prst="wedgeRoundRectCallout">
            <a:avLst>
              <a:gd name="adj1" fmla="val -16666"/>
              <a:gd name="adj2" fmla="val 277356"/>
              <a:gd name="adj3" fmla="val 16667"/>
            </a:avLst>
          </a:prstGeom>
          <a:solidFill>
            <a:srgbClr val="FFB66C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DejaVu Sans"/>
              </a:rPr>
              <a:t>PushButton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3" name="CustomShape 12"/>
          <p:cNvSpPr/>
          <p:nvPr/>
        </p:nvSpPr>
        <p:spPr>
          <a:xfrm>
            <a:off x="2743200" y="1143000"/>
            <a:ext cx="1141920" cy="227520"/>
          </a:xfrm>
          <a:prstGeom prst="wedgeRoundRectCallout">
            <a:avLst>
              <a:gd name="adj1" fmla="val 33875"/>
              <a:gd name="adj2" fmla="val 488203"/>
              <a:gd name="adj3" fmla="val 16667"/>
            </a:avLst>
          </a:prstGeom>
          <a:solidFill>
            <a:srgbClr val="FFB66C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DejaVu Sans"/>
              </a:rPr>
              <a:t>NumericInput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4" name="CustomShape 13"/>
          <p:cNvSpPr/>
          <p:nvPr/>
        </p:nvSpPr>
        <p:spPr>
          <a:xfrm>
            <a:off x="380880" y="3155760"/>
            <a:ext cx="1141920" cy="227520"/>
          </a:xfrm>
          <a:prstGeom prst="wedgeRoundRectCallout">
            <a:avLst>
              <a:gd name="adj1" fmla="val 223865"/>
              <a:gd name="adj2" fmla="val -224527"/>
              <a:gd name="adj3" fmla="val 16667"/>
            </a:avLst>
          </a:prstGeom>
          <a:solidFill>
            <a:srgbClr val="FFB66C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DejaVu Sans"/>
              </a:rPr>
              <a:t>NumericOutput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5" name="CustomShape 14"/>
          <p:cNvSpPr/>
          <p:nvPr/>
        </p:nvSpPr>
        <p:spPr>
          <a:xfrm>
            <a:off x="457200" y="2057400"/>
            <a:ext cx="913320" cy="227520"/>
          </a:xfrm>
          <a:prstGeom prst="wedgeRoundRectCallout">
            <a:avLst>
              <a:gd name="adj1" fmla="val 86754"/>
              <a:gd name="adj2" fmla="val 199685"/>
              <a:gd name="adj3" fmla="val 16667"/>
            </a:avLst>
          </a:prstGeom>
          <a:solidFill>
            <a:srgbClr val="FFB66C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DejaVu Sans"/>
              </a:rPr>
              <a:t>Button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6" name="CustomShape 15"/>
          <p:cNvSpPr/>
          <p:nvPr/>
        </p:nvSpPr>
        <p:spPr>
          <a:xfrm>
            <a:off x="7315200" y="4343400"/>
            <a:ext cx="913320" cy="227520"/>
          </a:xfrm>
          <a:prstGeom prst="wedgeRoundRectCallout">
            <a:avLst>
              <a:gd name="adj1" fmla="val -132601"/>
              <a:gd name="adj2" fmla="val 38833"/>
              <a:gd name="adj3" fmla="val 16667"/>
            </a:avLst>
          </a:prstGeom>
          <a:solidFill>
            <a:srgbClr val="FFB66C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DejaVu Sans"/>
              </a:rPr>
              <a:t>Image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7" name="CustomShape 16"/>
          <p:cNvSpPr/>
          <p:nvPr/>
        </p:nvSpPr>
        <p:spPr>
          <a:xfrm>
            <a:off x="228600" y="4114800"/>
            <a:ext cx="1141920" cy="227520"/>
          </a:xfrm>
          <a:prstGeom prst="wedgeRoundRectCallout">
            <a:avLst>
              <a:gd name="adj1" fmla="val 98421"/>
              <a:gd name="adj2" fmla="val 146851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Area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18" name="CustomShape 17"/>
          <p:cNvSpPr/>
          <p:nvPr/>
        </p:nvSpPr>
        <p:spPr>
          <a:xfrm>
            <a:off x="228600" y="1371600"/>
            <a:ext cx="1141920" cy="227520"/>
          </a:xfrm>
          <a:prstGeom prst="wedgeRoundRectCallout">
            <a:avLst>
              <a:gd name="adj1" fmla="val 72856"/>
              <a:gd name="adj2" fmla="val 40564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Page</a:t>
            </a:r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000100"/>
                </a:solidFill>
                <a:latin typeface="Georgia"/>
                <a:ea typeface="DejaVu Sans"/>
              </a:rPr>
              <a:t>Elements of HMI (2)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0" name="CustomShape 2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503228FC-DF12-4928-8DC5-580BF34B3A2D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6</a:t>
            </a:fld>
            <a:endParaRPr lang="en-US" sz="1000" b="0" strike="noStrike" spc="-1">
              <a:latin typeface="Arial"/>
            </a:endParaRPr>
          </a:p>
        </p:txBody>
      </p:sp>
      <p:pic>
        <p:nvPicPr>
          <p:cNvPr id="121" name="Picture 120"/>
          <p:cNvPicPr/>
          <p:nvPr/>
        </p:nvPicPr>
        <p:blipFill>
          <a:blip r:embed="rId2"/>
          <a:stretch/>
        </p:blipFill>
        <p:spPr>
          <a:xfrm>
            <a:off x="0" y="1227600"/>
            <a:ext cx="4671000" cy="3771000"/>
          </a:xfrm>
          <a:prstGeom prst="rect">
            <a:avLst/>
          </a:prstGeom>
          <a:ln w="0">
            <a:noFill/>
          </a:ln>
        </p:spPr>
      </p:pic>
      <p:pic>
        <p:nvPicPr>
          <p:cNvPr id="122" name="Picture 121"/>
          <p:cNvPicPr/>
          <p:nvPr/>
        </p:nvPicPr>
        <p:blipFill>
          <a:blip r:embed="rId3"/>
          <a:stretch/>
        </p:blipFill>
        <p:spPr>
          <a:xfrm>
            <a:off x="4591440" y="1371600"/>
            <a:ext cx="4551480" cy="3759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000100"/>
                </a:solidFill>
                <a:latin typeface="Georgia"/>
                <a:ea typeface="DejaVu Sans"/>
              </a:rPr>
              <a:t>Elements of HMI (3)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F8E154DB-DB56-4F22-8F10-0D64E67A8E6C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7</a:t>
            </a:fld>
            <a:endParaRPr lang="en-US" sz="1000" b="0" strike="noStrike" spc="-1">
              <a:latin typeface="Arial"/>
            </a:endParaRPr>
          </a:p>
        </p:txBody>
      </p:sp>
      <p:sp>
        <p:nvSpPr>
          <p:cNvPr id="125" name="CustomShape 3"/>
          <p:cNvSpPr/>
          <p:nvPr/>
        </p:nvSpPr>
        <p:spPr>
          <a:xfrm>
            <a:off x="720" y="1448640"/>
            <a:ext cx="8227800" cy="31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100"/>
                </a:solidFill>
                <a:latin typeface="Georgia"/>
                <a:ea typeface="DejaVu Sans"/>
              </a:rPr>
              <a:t>Page → Layout</a:t>
            </a:r>
            <a:endParaRPr lang="en-US" sz="28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A Layout contain Areas</a:t>
            </a:r>
            <a:endParaRPr lang="en-US" sz="2600" b="0" strike="noStrike" spc="-1">
              <a:latin typeface="Arial"/>
            </a:endParaRPr>
          </a:p>
          <a:p>
            <a:pPr marL="1080000" lvl="4" indent="-2149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strike="noStrike" spc="-1">
                <a:solidFill>
                  <a:srgbClr val="000100"/>
                </a:solidFill>
                <a:latin typeface="Georgia"/>
                <a:ea typeface="DejaVu Sans"/>
              </a:rPr>
              <a:t>Sizes and positions</a:t>
            </a:r>
            <a:endParaRPr lang="en-US" sz="22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Area contains a Content</a:t>
            </a:r>
            <a:endParaRPr lang="en-US" sz="2600" b="0" strike="noStrike" spc="-1">
              <a:latin typeface="Arial"/>
            </a:endParaRPr>
          </a:p>
          <a:p>
            <a:pPr marL="1143000" lvl="2" indent="-226800">
              <a:lnSpc>
                <a:spcPct val="100000"/>
              </a:lnSpc>
              <a:spcBef>
                <a:spcPts val="479"/>
              </a:spcBef>
              <a:buClr>
                <a:srgbClr val="0001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100"/>
                </a:solidFill>
                <a:latin typeface="Georgia"/>
                <a:ea typeface="DejaVu Sans"/>
              </a:rPr>
              <a:t>Widgets</a:t>
            </a:r>
            <a:endParaRPr lang="en-US" sz="2200" b="0" strike="noStrike" spc="-1">
              <a:latin typeface="Arial"/>
            </a:endParaRPr>
          </a:p>
          <a:p>
            <a:pPr marL="1143000" lvl="2" indent="-226800">
              <a:lnSpc>
                <a:spcPct val="100000"/>
              </a:lnSpc>
              <a:spcBef>
                <a:spcPts val="479"/>
              </a:spcBef>
              <a:buClr>
                <a:srgbClr val="0001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100"/>
                </a:solidFill>
                <a:latin typeface="Georgia"/>
                <a:ea typeface="DejaVu Sans"/>
              </a:rPr>
              <a:t>Labels, Images, etc</a:t>
            </a:r>
            <a:endParaRPr lang="en-US" sz="2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en-US" sz="2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en-US" sz="2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200" b="0" strike="noStrike" spc="-1">
              <a:latin typeface="Arial"/>
            </a:endParaRPr>
          </a:p>
        </p:txBody>
      </p:sp>
      <p:pic>
        <p:nvPicPr>
          <p:cNvPr id="126" name="Picture 125"/>
          <p:cNvPicPr/>
          <p:nvPr/>
        </p:nvPicPr>
        <p:blipFill>
          <a:blip r:embed="rId2"/>
          <a:stretch/>
        </p:blipFill>
        <p:spPr>
          <a:xfrm>
            <a:off x="4343400" y="1238400"/>
            <a:ext cx="4799520" cy="3444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000100"/>
                </a:solidFill>
                <a:latin typeface="Georgia"/>
                <a:ea typeface="DejaVu Sans"/>
              </a:rPr>
              <a:t>Elements of HMI (3.1)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8" name="CustomShape 2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63BBAB77-8029-40A5-91F6-940A03F8B31B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8</a:t>
            </a:fld>
            <a:endParaRPr lang="en-US" sz="1000" b="0" strike="noStrike" spc="-1">
              <a:latin typeface="Arial"/>
            </a:endParaRPr>
          </a:p>
        </p:txBody>
      </p:sp>
      <p:pic>
        <p:nvPicPr>
          <p:cNvPr id="129" name="Picture 128"/>
          <p:cNvPicPr/>
          <p:nvPr/>
        </p:nvPicPr>
        <p:blipFill>
          <a:blip r:embed="rId2"/>
          <a:stretch/>
        </p:blipFill>
        <p:spPr>
          <a:xfrm>
            <a:off x="2514600" y="1828800"/>
            <a:ext cx="3345840" cy="1599120"/>
          </a:xfrm>
          <a:prstGeom prst="rect">
            <a:avLst/>
          </a:prstGeom>
          <a:ln w="0">
            <a:noFill/>
          </a:ln>
        </p:spPr>
      </p:pic>
      <p:pic>
        <p:nvPicPr>
          <p:cNvPr id="130" name="Picture 129"/>
          <p:cNvPicPr/>
          <p:nvPr/>
        </p:nvPicPr>
        <p:blipFill>
          <a:blip r:embed="rId3"/>
          <a:stretch/>
        </p:blipFill>
        <p:spPr>
          <a:xfrm>
            <a:off x="3657600" y="2743200"/>
            <a:ext cx="4725000" cy="2281320"/>
          </a:xfrm>
          <a:prstGeom prst="rect">
            <a:avLst/>
          </a:prstGeom>
          <a:ln w="0">
            <a:noFill/>
          </a:ln>
        </p:spPr>
      </p:pic>
      <p:pic>
        <p:nvPicPr>
          <p:cNvPr id="131" name="Picture 130"/>
          <p:cNvPicPr/>
          <p:nvPr/>
        </p:nvPicPr>
        <p:blipFill>
          <a:blip r:embed="rId4"/>
          <a:stretch/>
        </p:blipFill>
        <p:spPr>
          <a:xfrm flipH="1">
            <a:off x="1601280" y="1828800"/>
            <a:ext cx="425880" cy="1868760"/>
          </a:xfrm>
          <a:prstGeom prst="rect">
            <a:avLst/>
          </a:prstGeom>
          <a:ln w="0">
            <a:noFill/>
          </a:ln>
        </p:spPr>
      </p:pic>
      <p:pic>
        <p:nvPicPr>
          <p:cNvPr id="132" name="Picture 131"/>
          <p:cNvPicPr/>
          <p:nvPr/>
        </p:nvPicPr>
        <p:blipFill>
          <a:blip r:embed="rId5"/>
          <a:stretch/>
        </p:blipFill>
        <p:spPr>
          <a:xfrm rot="10800000" flipH="1">
            <a:off x="2944800" y="1371240"/>
            <a:ext cx="4140720" cy="251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000100"/>
                </a:solidFill>
                <a:latin typeface="Georgia"/>
                <a:ea typeface="DejaVu Sans"/>
              </a:rPr>
              <a:t>Widgets (1)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4" name="CustomShape 2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680DFE36-B4C0-4E6C-84D4-13914C484EE1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9</a:t>
            </a:fld>
            <a:endParaRPr lang="en-US" sz="1000" b="0" strike="noStrike" spc="-1">
              <a:latin typeface="Arial"/>
            </a:endParaRPr>
          </a:p>
        </p:txBody>
      </p:sp>
      <p:pic>
        <p:nvPicPr>
          <p:cNvPr id="135" name="Picture 134"/>
          <p:cNvPicPr/>
          <p:nvPr/>
        </p:nvPicPr>
        <p:blipFill>
          <a:blip r:embed="rId2"/>
          <a:stretch/>
        </p:blipFill>
        <p:spPr>
          <a:xfrm>
            <a:off x="0" y="1287000"/>
            <a:ext cx="6237000" cy="2534400"/>
          </a:xfrm>
          <a:prstGeom prst="rect">
            <a:avLst/>
          </a:prstGeom>
          <a:ln w="0">
            <a:noFill/>
          </a:ln>
        </p:spPr>
      </p:pic>
      <p:grpSp>
        <p:nvGrpSpPr>
          <p:cNvPr id="136" name="Group 3"/>
          <p:cNvGrpSpPr/>
          <p:nvPr/>
        </p:nvGrpSpPr>
        <p:grpSpPr>
          <a:xfrm>
            <a:off x="2810160" y="2149920"/>
            <a:ext cx="6332760" cy="2932920"/>
            <a:chOff x="2810160" y="2149920"/>
            <a:chExt cx="6332760" cy="2932920"/>
          </a:xfrm>
        </p:grpSpPr>
        <p:pic>
          <p:nvPicPr>
            <p:cNvPr id="137" name="Picture 136"/>
            <p:cNvPicPr/>
            <p:nvPr/>
          </p:nvPicPr>
          <p:blipFill>
            <a:blip r:embed="rId3"/>
            <a:stretch/>
          </p:blipFill>
          <p:spPr>
            <a:xfrm>
              <a:off x="2810160" y="2149920"/>
              <a:ext cx="6332760" cy="2822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8" name="Picture 137"/>
            <p:cNvPicPr/>
            <p:nvPr/>
          </p:nvPicPr>
          <p:blipFill>
            <a:blip r:embed="rId4"/>
            <a:stretch/>
          </p:blipFill>
          <p:spPr>
            <a:xfrm>
              <a:off x="2810160" y="2407680"/>
              <a:ext cx="6332760" cy="2675160"/>
            </a:xfrm>
            <a:prstGeom prst="rect">
              <a:avLst/>
            </a:prstGeom>
            <a:ln w="0"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000100"/>
                </a:solidFill>
                <a:latin typeface="Georgia"/>
                <a:ea typeface="DejaVu Sans"/>
              </a:rPr>
              <a:t>Widgets (2)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40" name="CustomShape 2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31ECB62A-B6B2-4D3B-82E0-37B25B302F59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10</a:t>
            </a:fld>
            <a:endParaRPr lang="en-US" sz="1000" b="0" strike="noStrike" spc="-1">
              <a:latin typeface="Arial"/>
            </a:endParaRPr>
          </a:p>
        </p:txBody>
      </p:sp>
      <p:pic>
        <p:nvPicPr>
          <p:cNvPr id="141" name="Picture 140"/>
          <p:cNvPicPr/>
          <p:nvPr/>
        </p:nvPicPr>
        <p:blipFill>
          <a:blip r:embed="rId2"/>
          <a:stretch/>
        </p:blipFill>
        <p:spPr>
          <a:xfrm>
            <a:off x="6699960" y="0"/>
            <a:ext cx="2443320" cy="5142600"/>
          </a:xfrm>
          <a:prstGeom prst="rect">
            <a:avLst/>
          </a:prstGeom>
          <a:ln w="0">
            <a:noFill/>
          </a:ln>
        </p:spPr>
      </p:pic>
      <p:sp>
        <p:nvSpPr>
          <p:cNvPr id="142" name="CustomShape 3"/>
          <p:cNvSpPr/>
          <p:nvPr/>
        </p:nvSpPr>
        <p:spPr>
          <a:xfrm>
            <a:off x="457200" y="1433520"/>
            <a:ext cx="8227800" cy="31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100"/>
                </a:solidFill>
                <a:latin typeface="Georgia"/>
                <a:ea typeface="DejaVu Sans"/>
              </a:rPr>
              <a:t>All the configuration in Properties</a:t>
            </a:r>
            <a:endParaRPr lang="en-US" sz="2800" b="0" strike="noStrike" spc="-1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100"/>
                </a:solidFill>
                <a:latin typeface="Georgia"/>
                <a:ea typeface="DejaVu Sans"/>
              </a:rPr>
              <a:t>Possible select more than 1 object</a:t>
            </a:r>
            <a:endParaRPr lang="en-US" sz="28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Texts definition</a:t>
            </a:r>
            <a:endParaRPr lang="en-US" sz="2600" b="0" strike="noStrike" spc="-1">
              <a:latin typeface="Arial"/>
            </a:endParaRPr>
          </a:p>
          <a:p>
            <a:pPr marL="1080000" lvl="4" indent="-215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Direct</a:t>
            </a:r>
            <a:endParaRPr lang="en-US" sz="2600" b="0" strike="noStrike" spc="-1">
              <a:latin typeface="Arial"/>
            </a:endParaRPr>
          </a:p>
          <a:p>
            <a:pPr marL="1080000" lvl="4" indent="-215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From Texts file</a:t>
            </a:r>
            <a:endParaRPr lang="en-US" sz="26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Image/media definition</a:t>
            </a:r>
            <a:endParaRPr lang="en-US" sz="2600" b="0" strike="noStrike" spc="-1">
              <a:latin typeface="Arial"/>
            </a:endParaRPr>
          </a:p>
          <a:p>
            <a:pPr marL="1080000" lvl="4" indent="-215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From resources</a:t>
            </a:r>
            <a:endParaRPr lang="en-US" sz="2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000100"/>
                </a:solidFill>
                <a:latin typeface="Georgia"/>
                <a:ea typeface="DejaVu Sans"/>
              </a:rPr>
              <a:t>Compound Widgets (1)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2D30FA19-7592-4F7C-9A0E-F0721B7E0329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11</a:t>
            </a:fld>
            <a:endParaRPr lang="en-US" sz="1000" b="0" strike="noStrike" spc="-1">
              <a:latin typeface="Arial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457200" y="1433520"/>
            <a:ext cx="8227800" cy="31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100"/>
                </a:solidFill>
                <a:latin typeface="Georgia"/>
                <a:ea typeface="DejaVu Sans"/>
              </a:rPr>
              <a:t>Already created an EFIWidgetLib</a:t>
            </a:r>
            <a:endParaRPr lang="en-US" sz="2800" b="0" strike="noStrike" spc="-1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100"/>
                </a:solidFill>
                <a:latin typeface="Georgia"/>
                <a:ea typeface="DejaVu Sans"/>
              </a:rPr>
              <a:t>The CompoundWidget do not have graphical</a:t>
            </a:r>
            <a:endParaRPr lang="en-US" sz="2800" b="0" strike="noStrike" spc="-1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100"/>
                </a:solidFill>
                <a:latin typeface="Georgia"/>
                <a:ea typeface="DejaVu Sans"/>
              </a:rPr>
              <a:t>Defined a DevelopContent to create the Content</a:t>
            </a:r>
            <a:endParaRPr lang="en-US" sz="2800" b="0" strike="noStrike" spc="-1">
              <a:latin typeface="Arial"/>
            </a:endParaRPr>
          </a:p>
          <a:p>
            <a:pPr marL="432000" lvl="1" indent="-215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Symbol"/>
              <a:buChar char=""/>
            </a:pPr>
            <a:r>
              <a:rPr lang="en-US" sz="2200" b="0" strike="noStrike" spc="-1">
                <a:solidFill>
                  <a:srgbClr val="000100"/>
                </a:solidFill>
                <a:latin typeface="Georgia"/>
                <a:ea typeface="DejaVu Sans"/>
              </a:rPr>
              <a:t>Copy the widgets from DevelopContent &amp; Define the mapping</a:t>
            </a:r>
            <a:endParaRPr lang="en-US" sz="2200" b="0" strike="noStrike" spc="-1">
              <a:latin typeface="Arial"/>
            </a:endParaRPr>
          </a:p>
        </p:txBody>
      </p:sp>
      <p:pic>
        <p:nvPicPr>
          <p:cNvPr id="146" name="Picture 145"/>
          <p:cNvPicPr/>
          <p:nvPr/>
        </p:nvPicPr>
        <p:blipFill>
          <a:blip r:embed="rId2"/>
          <a:stretch/>
        </p:blipFill>
        <p:spPr>
          <a:xfrm>
            <a:off x="861840" y="3429000"/>
            <a:ext cx="7741440" cy="1713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000100"/>
                </a:solidFill>
                <a:latin typeface="Georgia"/>
                <a:ea typeface="DejaVu Sans"/>
              </a:rPr>
              <a:t>Bindings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48" name="CustomShape 2"/>
          <p:cNvSpPr/>
          <p:nvPr/>
        </p:nvSpPr>
        <p:spPr>
          <a:xfrm>
            <a:off x="457200" y="1433520"/>
            <a:ext cx="8227800" cy="31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100"/>
                </a:solidFill>
                <a:latin typeface="Georgia"/>
                <a:ea typeface="DejaVu Sans"/>
              </a:rPr>
              <a:t>Relation between widgets and data</a:t>
            </a:r>
            <a:endParaRPr lang="en-US" sz="28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Specific for each configuration</a:t>
            </a:r>
            <a:endParaRPr lang="en-US" sz="26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Enabled in the configuration of the application</a:t>
            </a:r>
            <a:endParaRPr lang="en-US" sz="26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Read, write, read/write</a:t>
            </a:r>
            <a:endParaRPr lang="en-US" sz="2600" b="0" strike="noStrike" spc="-1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100"/>
                </a:solidFill>
                <a:latin typeface="Georgia"/>
                <a:ea typeface="DejaVu Sans"/>
              </a:rPr>
              <a:t>XML file, plain text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149" name="CustomShape 3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0918387C-EB80-43D5-A7F2-B364B1C1AEE8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12</a:t>
            </a:fld>
            <a:endParaRPr lang="en-US" sz="1000" b="0" strike="noStrike" spc="-1">
              <a:latin typeface="Arial"/>
            </a:endParaRPr>
          </a:p>
        </p:txBody>
      </p:sp>
      <p:pic>
        <p:nvPicPr>
          <p:cNvPr id="150" name="Picture 149"/>
          <p:cNvPicPr/>
          <p:nvPr/>
        </p:nvPicPr>
        <p:blipFill>
          <a:blip r:embed="rId2"/>
          <a:stretch/>
        </p:blipFill>
        <p:spPr>
          <a:xfrm>
            <a:off x="0" y="3886200"/>
            <a:ext cx="9142920" cy="762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000100"/>
                </a:solidFill>
                <a:latin typeface="Georgia"/>
                <a:ea typeface="DejaVu Sans"/>
              </a:rPr>
              <a:t>EventBindings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2" name="CustomShape 2"/>
          <p:cNvSpPr/>
          <p:nvPr/>
        </p:nvSpPr>
        <p:spPr>
          <a:xfrm>
            <a:off x="457200" y="1433520"/>
            <a:ext cx="8227800" cy="31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100"/>
                </a:solidFill>
                <a:latin typeface="Georgia"/>
                <a:ea typeface="DejaVu Sans"/>
              </a:rPr>
              <a:t>Actions to do after an event</a:t>
            </a:r>
            <a:endParaRPr lang="en-US" sz="28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Specific for each configuration</a:t>
            </a:r>
            <a:endParaRPr lang="en-US" sz="26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Enabled in the configuration of the application</a:t>
            </a:r>
            <a:endParaRPr lang="en-US" sz="26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Source –&gt; Handler –&gt; Action –&gt; Target</a:t>
            </a:r>
            <a:endParaRPr lang="en-US" sz="2600" b="0" strike="noStrike" spc="-1">
              <a:latin typeface="Arial"/>
            </a:endParaRPr>
          </a:p>
        </p:txBody>
      </p:sp>
      <p:sp>
        <p:nvSpPr>
          <p:cNvPr id="153" name="CustomShape 3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10D823AA-770C-43FC-AE88-9A480A9610D0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13</a:t>
            </a:fld>
            <a:endParaRPr lang="en-US" sz="1000" b="0" strike="noStrike" spc="-1">
              <a:latin typeface="Arial"/>
            </a:endParaRPr>
          </a:p>
        </p:txBody>
      </p:sp>
      <p:pic>
        <p:nvPicPr>
          <p:cNvPr id="154" name="Picture 153"/>
          <p:cNvPicPr/>
          <p:nvPr/>
        </p:nvPicPr>
        <p:blipFill>
          <a:blip r:embed="rId2"/>
          <a:stretch/>
        </p:blipFill>
        <p:spPr>
          <a:xfrm>
            <a:off x="1371600" y="3304800"/>
            <a:ext cx="6856920" cy="1837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000100"/>
                </a:solidFill>
                <a:latin typeface="Georgia"/>
                <a:ea typeface="DejaVu Sans"/>
              </a:rPr>
              <a:t>Texts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6" name="CustomShape 2"/>
          <p:cNvSpPr/>
          <p:nvPr/>
        </p:nvSpPr>
        <p:spPr>
          <a:xfrm>
            <a:off x="457200" y="1433520"/>
            <a:ext cx="8227800" cy="31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100"/>
                </a:solidFill>
                <a:latin typeface="Georgia"/>
                <a:ea typeface="DejaVu Sans"/>
              </a:rPr>
              <a:t>Defined in Resources/Texts/PageTexts.txm</a:t>
            </a:r>
            <a:endParaRPr lang="en-US" sz="28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Languages defined in the project</a:t>
            </a:r>
            <a:endParaRPr lang="en-US" sz="26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Namespace IAT (cannot be changed)</a:t>
            </a:r>
            <a:endParaRPr lang="en-US" sz="2600" b="0" strike="noStrike" spc="-1">
              <a:latin typeface="Arial"/>
            </a:endParaRPr>
          </a:p>
          <a:p>
            <a:pPr marL="648000" lvl="2" indent="-215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strike="noStrike" spc="-1">
                <a:solidFill>
                  <a:srgbClr val="000100"/>
                </a:solidFill>
                <a:latin typeface="Georgia"/>
                <a:ea typeface="DejaVu Sans"/>
              </a:rPr>
              <a:t>Assignation: $IAT/TextID;         Sample:$IAT/Mach.Reset;</a:t>
            </a: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 </a:t>
            </a:r>
            <a:endParaRPr lang="en-US" sz="2600" b="0" strike="noStrike" spc="-1">
              <a:latin typeface="Arial"/>
            </a:endParaRPr>
          </a:p>
        </p:txBody>
      </p:sp>
      <p:sp>
        <p:nvSpPr>
          <p:cNvPr id="157" name="CustomShape 3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38DB19B7-E337-4DA3-9029-45B3EE763D46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14</a:t>
            </a:fld>
            <a:endParaRPr lang="en-US" sz="1000" b="0" strike="noStrike" spc="-1">
              <a:latin typeface="Arial"/>
            </a:endParaRPr>
          </a:p>
        </p:txBody>
      </p:sp>
      <p:pic>
        <p:nvPicPr>
          <p:cNvPr id="158" name="Picture 157"/>
          <p:cNvPicPr/>
          <p:nvPr/>
        </p:nvPicPr>
        <p:blipFill>
          <a:blip r:embed="rId2"/>
          <a:stretch/>
        </p:blipFill>
        <p:spPr>
          <a:xfrm>
            <a:off x="2286000" y="3314520"/>
            <a:ext cx="4381560" cy="1713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000100"/>
                </a:solidFill>
                <a:latin typeface="Georgia"/>
                <a:ea typeface="DejaVu Sans"/>
              </a:rPr>
              <a:t>Units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0" name="CustomShape 2"/>
          <p:cNvSpPr/>
          <p:nvPr/>
        </p:nvSpPr>
        <p:spPr>
          <a:xfrm>
            <a:off x="457200" y="1433520"/>
            <a:ext cx="8227800" cy="31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100"/>
                </a:solidFill>
                <a:latin typeface="Georgia"/>
                <a:ea typeface="DejaVu Sans"/>
              </a:rPr>
              <a:t>Search the desired unit in </a:t>
            </a:r>
            <a:r>
              <a:rPr lang="en-US" sz="2800" b="1" strike="noStrike" spc="-1">
                <a:solidFill>
                  <a:srgbClr val="000100"/>
                </a:solidFill>
                <a:latin typeface="Georgia"/>
                <a:ea typeface="DejaVu Sans"/>
              </a:rPr>
              <a:t>Code for Units.xls</a:t>
            </a:r>
            <a:endParaRPr lang="en-US" sz="28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Define the Unit in the widget</a:t>
            </a:r>
            <a:endParaRPr lang="en-US" sz="26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Input the value in the orange column</a:t>
            </a:r>
            <a:endParaRPr lang="en-US" sz="2600" b="0" strike="noStrike" spc="-1">
              <a:latin typeface="Arial"/>
            </a:endParaRPr>
          </a:p>
        </p:txBody>
      </p:sp>
      <p:sp>
        <p:nvSpPr>
          <p:cNvPr id="161" name="CustomShape 3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540FA58B-DBDD-498F-BE59-EE1AFC445E7D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15</a:t>
            </a:fld>
            <a:endParaRPr lang="en-US" sz="1000" b="0" strike="noStrike" spc="-1">
              <a:latin typeface="Arial"/>
            </a:endParaRPr>
          </a:p>
        </p:txBody>
      </p:sp>
      <p:pic>
        <p:nvPicPr>
          <p:cNvPr id="162" name="Picture 161"/>
          <p:cNvPicPr/>
          <p:nvPr/>
        </p:nvPicPr>
        <p:blipFill>
          <a:blip r:embed="rId2"/>
          <a:stretch/>
        </p:blipFill>
        <p:spPr>
          <a:xfrm>
            <a:off x="1143000" y="3429000"/>
            <a:ext cx="4421160" cy="1240200"/>
          </a:xfrm>
          <a:prstGeom prst="rect">
            <a:avLst/>
          </a:prstGeom>
          <a:ln w="0">
            <a:noFill/>
          </a:ln>
        </p:spPr>
      </p:pic>
      <p:pic>
        <p:nvPicPr>
          <p:cNvPr id="163" name="Picture 162"/>
          <p:cNvPicPr/>
          <p:nvPr/>
        </p:nvPicPr>
        <p:blipFill>
          <a:blip r:embed="rId3"/>
          <a:stretch/>
        </p:blipFill>
        <p:spPr>
          <a:xfrm>
            <a:off x="6172200" y="3200400"/>
            <a:ext cx="2468880" cy="1773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000100"/>
                </a:solidFill>
                <a:latin typeface="Georgia"/>
                <a:ea typeface="DejaVu Sans"/>
              </a:rPr>
              <a:t>OPC UA (1)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0" name="CustomShape 2"/>
          <p:cNvSpPr/>
          <p:nvPr/>
        </p:nvSpPr>
        <p:spPr>
          <a:xfrm>
            <a:off x="457200" y="1433520"/>
            <a:ext cx="8227800" cy="31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The server is define per Configuration</a:t>
            </a:r>
            <a:endParaRPr lang="en-US" sz="2800" b="0" strike="noStrike" spc="-1" dirty="0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Config→ Connectivity→ </a:t>
            </a:r>
            <a:r>
              <a:rPr lang="en-US" sz="2600" b="0" strike="noStrike" spc="-1" dirty="0" err="1">
                <a:solidFill>
                  <a:srgbClr val="000100"/>
                </a:solidFill>
                <a:latin typeface="Georgia"/>
                <a:ea typeface="DejaVu Sans"/>
              </a:rPr>
              <a:t>OpcUA</a:t>
            </a:r>
            <a:r>
              <a:rPr lang="en-US" sz="2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→ </a:t>
            </a:r>
            <a:r>
              <a:rPr lang="en-US" sz="2600" b="0" strike="noStrike" spc="-1" dirty="0" err="1">
                <a:solidFill>
                  <a:srgbClr val="000100"/>
                </a:solidFill>
                <a:latin typeface="Georgia"/>
                <a:ea typeface="DejaVu Sans"/>
              </a:rPr>
              <a:t>OpcUaMap.uad</a:t>
            </a:r>
            <a:endParaRPr lang="en-US" sz="2600" b="0" strike="noStrike" spc="-1" dirty="0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1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Global variables</a:t>
            </a:r>
            <a:r>
              <a:rPr lang="en-US" sz="2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 &amp; </a:t>
            </a:r>
            <a:r>
              <a:rPr lang="en-US" sz="2600" b="1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Program Variables</a:t>
            </a:r>
            <a:endParaRPr lang="en-US" sz="2600" b="0" strike="noStrike" spc="-1" dirty="0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Users in </a:t>
            </a:r>
            <a:r>
              <a:rPr lang="en-US" sz="2800" b="0" strike="noStrike" spc="-1" dirty="0" err="1">
                <a:solidFill>
                  <a:srgbClr val="000100"/>
                </a:solidFill>
                <a:latin typeface="Georgia"/>
                <a:ea typeface="DejaVu Sans"/>
              </a:rPr>
              <a:t>AccessAndSecurity</a:t>
            </a:r>
            <a:endParaRPr lang="en-US" sz="2800" b="0" strike="noStrike" spc="-1" dirty="0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1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Users</a:t>
            </a:r>
            <a:r>
              <a:rPr lang="en-US" sz="2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 and roles</a:t>
            </a:r>
            <a:endParaRPr lang="en-US" sz="2600" b="0" strike="noStrike" spc="-1" dirty="0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Permissions defined in server variables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171" name="CustomShape 3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83CF3598-E5C4-4CD9-822C-77AC5CAFC4AE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16</a:t>
            </a:fld>
            <a:endParaRPr lang="en-US" sz="1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000100"/>
                </a:solidFill>
                <a:latin typeface="Georgia"/>
                <a:ea typeface="DejaVu Sans"/>
              </a:rPr>
              <a:t>OPC UA (2)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3" name="CustomShape 2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8AA64134-811B-4F84-BD2E-18FF27459A12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17</a:t>
            </a:fld>
            <a:endParaRPr lang="en-US" sz="1000" b="0" strike="noStrike" spc="-1">
              <a:latin typeface="Arial"/>
            </a:endParaRPr>
          </a:p>
        </p:txBody>
      </p:sp>
      <p:pic>
        <p:nvPicPr>
          <p:cNvPr id="174" name="Picture 173"/>
          <p:cNvPicPr/>
          <p:nvPr/>
        </p:nvPicPr>
        <p:blipFill>
          <a:blip r:embed="rId2"/>
          <a:stretch/>
        </p:blipFill>
        <p:spPr>
          <a:xfrm>
            <a:off x="1371600" y="1176120"/>
            <a:ext cx="6207120" cy="3852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000100"/>
                </a:solidFill>
                <a:latin typeface="Georgia"/>
                <a:ea typeface="DejaVu Sans"/>
              </a:rPr>
              <a:t>Sample in Automation Studio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6" name="CustomShape 2"/>
          <p:cNvSpPr/>
          <p:nvPr/>
        </p:nvSpPr>
        <p:spPr>
          <a:xfrm>
            <a:off x="457200" y="1433520"/>
            <a:ext cx="8227800" cy="31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100"/>
                </a:solidFill>
                <a:latin typeface="Georgia"/>
                <a:ea typeface="DejaVu Sans"/>
              </a:rPr>
              <a:t>Sample when installing version</a:t>
            </a:r>
            <a:endParaRPr lang="en-US" sz="28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Unzip file in destination</a:t>
            </a:r>
            <a:endParaRPr lang="en-US" sz="26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Open project</a:t>
            </a:r>
            <a:endParaRPr lang="en-US" sz="2600" b="0" strike="noStrike" spc="-1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Review sample</a:t>
            </a:r>
            <a:endParaRPr lang="en-US" sz="2600" b="0" strike="noStrike" spc="-1">
              <a:latin typeface="Arial"/>
            </a:endParaRPr>
          </a:p>
        </p:txBody>
      </p:sp>
      <p:sp>
        <p:nvSpPr>
          <p:cNvPr id="177" name="CustomShape 3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47626103-328E-43D3-A865-A938597A60FE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18</a:t>
            </a:fld>
            <a:endParaRPr lang="en-US" sz="1000" b="0" strike="noStrike" spc="-1">
              <a:latin typeface="Arial"/>
            </a:endParaRPr>
          </a:p>
        </p:txBody>
      </p:sp>
      <p:pic>
        <p:nvPicPr>
          <p:cNvPr id="178" name="Picture 177"/>
          <p:cNvPicPr/>
          <p:nvPr/>
        </p:nvPicPr>
        <p:blipFill>
          <a:blip r:embed="rId2"/>
          <a:stretch/>
        </p:blipFill>
        <p:spPr>
          <a:xfrm>
            <a:off x="3771360" y="2477160"/>
            <a:ext cx="4915440" cy="2552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Programming rules.1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457200" y="1433520"/>
            <a:ext cx="8227800" cy="31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All </a:t>
            </a:r>
            <a:r>
              <a:rPr lang="en-US" sz="2800" b="0" strike="noStrike" spc="-1" dirty="0" err="1">
                <a:solidFill>
                  <a:srgbClr val="000100"/>
                </a:solidFill>
                <a:latin typeface="Georgia"/>
                <a:ea typeface="DejaVu Sans"/>
              </a:rPr>
              <a:t>identifyers</a:t>
            </a:r>
            <a:r>
              <a:rPr lang="en-US" sz="28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 </a:t>
            </a:r>
            <a:r>
              <a:rPr lang="en-US" sz="2800" b="1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MUST</a:t>
            </a:r>
            <a:r>
              <a:rPr lang="en-US" sz="28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 finish with the type</a:t>
            </a:r>
            <a:endParaRPr lang="en-US" sz="2800" b="0" strike="noStrike" spc="-1" dirty="0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The identifier --&gt;</a:t>
            </a:r>
            <a:r>
              <a:rPr lang="en-US" sz="2800" b="1" i="1" strike="noStrike" spc="-1" dirty="0" err="1">
                <a:solidFill>
                  <a:srgbClr val="000100"/>
                </a:solidFill>
                <a:latin typeface="Georgia"/>
                <a:ea typeface="DejaVu Sans"/>
              </a:rPr>
              <a:t>FileName_ElementType</a:t>
            </a:r>
            <a:endParaRPr lang="en-US" sz="2800" b="0" strike="noStrike" spc="-1" dirty="0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_Page		_Layout</a:t>
            </a:r>
            <a:endParaRPr lang="en-US" sz="2600" b="0" strike="noStrike" spc="-1" dirty="0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_Content	_Dialog</a:t>
            </a:r>
            <a:endParaRPr lang="en-US" sz="2600" b="0" strike="noStrike" spc="-1" dirty="0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_Binding</a:t>
            </a:r>
            <a:endParaRPr lang="en-US" sz="2600" b="0" strike="noStrike" spc="-1" dirty="0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_</a:t>
            </a:r>
            <a:r>
              <a:rPr lang="en-US" sz="2600" b="0" strike="noStrike" spc="-1" dirty="0" err="1">
                <a:solidFill>
                  <a:srgbClr val="000100"/>
                </a:solidFill>
                <a:latin typeface="Georgia"/>
                <a:ea typeface="DejaVu Sans"/>
              </a:rPr>
              <a:t>EventBinding</a:t>
            </a:r>
            <a:endParaRPr lang="en-US" sz="2600" b="0" strike="noStrike" spc="-1" dirty="0">
              <a:latin typeface="Arial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97CC748F-C34F-45C0-8A7F-D4405605FB2D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19</a:t>
            </a:fld>
            <a:endParaRPr lang="en-US" sz="1000" b="0" strike="noStrike" spc="-1">
              <a:latin typeface="Arial"/>
            </a:endParaRPr>
          </a:p>
        </p:txBody>
      </p:sp>
      <p:pic>
        <p:nvPicPr>
          <p:cNvPr id="167" name="Picture 166"/>
          <p:cNvPicPr/>
          <p:nvPr/>
        </p:nvPicPr>
        <p:blipFill>
          <a:blip r:embed="rId2"/>
          <a:stretch/>
        </p:blipFill>
        <p:spPr>
          <a:xfrm>
            <a:off x="5029200" y="2465640"/>
            <a:ext cx="1828080" cy="2677320"/>
          </a:xfrm>
          <a:prstGeom prst="rect">
            <a:avLst/>
          </a:prstGeom>
          <a:ln w="0">
            <a:noFill/>
          </a:ln>
        </p:spPr>
      </p:pic>
      <p:pic>
        <p:nvPicPr>
          <p:cNvPr id="168" name="Picture 167"/>
          <p:cNvPicPr/>
          <p:nvPr/>
        </p:nvPicPr>
        <p:blipFill>
          <a:blip r:embed="rId3"/>
          <a:stretch/>
        </p:blipFill>
        <p:spPr>
          <a:xfrm>
            <a:off x="7086600" y="2971800"/>
            <a:ext cx="1740240" cy="1370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Programming rules.2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176" name="CustomShape 2"/>
          <p:cNvSpPr/>
          <p:nvPr/>
        </p:nvSpPr>
        <p:spPr>
          <a:xfrm>
            <a:off x="457200" y="1433520"/>
            <a:ext cx="8227800" cy="31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All binding files MUST be reformatted before committin</a:t>
            </a:r>
            <a:r>
              <a:rPr lang="en-US" sz="2800" spc="-1" dirty="0">
                <a:solidFill>
                  <a:srgbClr val="000100"/>
                </a:solidFill>
                <a:latin typeface="Georgia"/>
                <a:ea typeface="DejaVu Sans"/>
              </a:rPr>
              <a:t>g to repository</a:t>
            </a:r>
            <a:endParaRPr lang="en-US" sz="2800" b="0" strike="noStrike" spc="-1" dirty="0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Using Notepad++</a:t>
            </a:r>
            <a:endParaRPr lang="en-US" sz="2600" b="0" strike="noStrike" spc="-1" dirty="0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XML Tools plugin</a:t>
            </a:r>
            <a:endParaRPr lang="en-US" sz="2600" b="0" strike="noStrike" spc="-1" dirty="0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Pretty Print [Ctrl+Alt+Shift+B]</a:t>
            </a:r>
            <a:endParaRPr lang="en-US" sz="2600" b="0" strike="noStrike" spc="-1" dirty="0">
              <a:latin typeface="Arial"/>
            </a:endParaRPr>
          </a:p>
        </p:txBody>
      </p:sp>
      <p:sp>
        <p:nvSpPr>
          <p:cNvPr id="177" name="CustomShape 3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47626103-328E-43D3-A865-A938597A60FE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20</a:t>
            </a:fld>
            <a:endParaRPr lang="en-US" sz="1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4301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Programming rules.3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176" name="CustomShape 2"/>
          <p:cNvSpPr/>
          <p:nvPr/>
        </p:nvSpPr>
        <p:spPr>
          <a:xfrm>
            <a:off x="457200" y="1433520"/>
            <a:ext cx="8227800" cy="31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Diagnosis page to visualize directly PLC cards</a:t>
            </a:r>
            <a:endParaRPr lang="en-US" sz="2800" b="0" strike="noStrike" spc="-1" dirty="0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Using Compound widgets</a:t>
            </a:r>
            <a:endParaRPr lang="en-US" sz="2600" b="0" strike="noStrike" spc="-1" dirty="0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Add Compound widgets if necessary</a:t>
            </a:r>
            <a:endParaRPr lang="en-US" sz="2600" b="0" strike="noStrike" spc="-1" dirty="0">
              <a:latin typeface="Arial"/>
            </a:endParaRPr>
          </a:p>
        </p:txBody>
      </p:sp>
      <p:sp>
        <p:nvSpPr>
          <p:cNvPr id="177" name="CustomShape 3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47626103-328E-43D3-A865-A938597A60FE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21</a:t>
            </a:fld>
            <a:endParaRPr lang="en-US" sz="1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0385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Programming rules.4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176" name="CustomShape 2"/>
          <p:cNvSpPr/>
          <p:nvPr/>
        </p:nvSpPr>
        <p:spPr>
          <a:xfrm>
            <a:off x="457200" y="1433520"/>
            <a:ext cx="8227800" cy="31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Enable OpcUa structures in Automatic Mode</a:t>
            </a:r>
            <a:endParaRPr lang="en-US" sz="2800" b="0" strike="noStrike" spc="-1" dirty="0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Work with permissions</a:t>
            </a:r>
            <a:endParaRPr lang="en-US" sz="2600" b="0" strike="noStrike" spc="-1" dirty="0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Reduce maintenance of code in server</a:t>
            </a:r>
            <a:endParaRPr lang="en-US" sz="2600" b="0" strike="noStrike" spc="-1" dirty="0">
              <a:latin typeface="Arial"/>
            </a:endParaRPr>
          </a:p>
        </p:txBody>
      </p:sp>
      <p:sp>
        <p:nvSpPr>
          <p:cNvPr id="177" name="CustomShape 3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47626103-328E-43D3-A865-A938597A60FE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22</a:t>
            </a:fld>
            <a:endParaRPr lang="en-US" sz="1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2826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Programming rules.5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176" name="CustomShape 2"/>
          <p:cNvSpPr/>
          <p:nvPr/>
        </p:nvSpPr>
        <p:spPr>
          <a:xfrm>
            <a:off x="457200" y="1433520"/>
            <a:ext cx="8227800" cy="31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1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Texts and alarms stored in csv file</a:t>
            </a:r>
            <a:endParaRPr lang="en-US" sz="2800" b="0" strike="noStrike" spc="-1" dirty="0">
              <a:latin typeface="Arial"/>
            </a:endParaRPr>
          </a:p>
          <a:p>
            <a:pPr marL="743040" lvl="1" indent="-284040">
              <a:lnSpc>
                <a:spcPct val="100000"/>
              </a:lnSpc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Define code, text and variable to raise alarm</a:t>
            </a:r>
            <a:endParaRPr lang="en-US" sz="2600" b="0" strike="noStrike" spc="-1" dirty="0">
              <a:latin typeface="Arial"/>
            </a:endParaRPr>
          </a:p>
          <a:p>
            <a:pPr marL="1200240" lvl="2" indent="-284040"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Automatically created texts indexes</a:t>
            </a:r>
          </a:p>
          <a:p>
            <a:pPr marL="1200240" lvl="2" indent="-284040"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spc="-1" dirty="0">
                <a:solidFill>
                  <a:srgbClr val="000100"/>
                </a:solidFill>
                <a:latin typeface="Georgia"/>
                <a:ea typeface="DejaVu Sans"/>
              </a:rPr>
              <a:t>Automatically created alarms code</a:t>
            </a:r>
          </a:p>
          <a:p>
            <a:pPr marL="1200240" lvl="2" indent="-284040">
              <a:spcBef>
                <a:spcPts val="561"/>
              </a:spcBef>
              <a:buClr>
                <a:srgbClr val="000100"/>
              </a:buClr>
              <a:buFont typeface="Arial"/>
              <a:buChar char="–"/>
            </a:pPr>
            <a:r>
              <a:rPr lang="en-US" sz="2600" b="0" strike="noStrike" spc="-1" dirty="0">
                <a:solidFill>
                  <a:srgbClr val="000100"/>
                </a:solidFill>
                <a:latin typeface="Georgia"/>
                <a:ea typeface="DejaVu Sans"/>
              </a:rPr>
              <a:t>Indexed can be used </a:t>
            </a:r>
            <a:r>
              <a:rPr lang="en-US" sz="2600" b="0" strike="noStrike" spc="-1">
                <a:solidFill>
                  <a:srgbClr val="000100"/>
                </a:solidFill>
                <a:latin typeface="Georgia"/>
                <a:ea typeface="DejaVu Sans"/>
              </a:rPr>
              <a:t>from widgets</a:t>
            </a:r>
            <a:endParaRPr lang="en-US" sz="2600" b="0" strike="noStrike" spc="-1" dirty="0">
              <a:latin typeface="Arial"/>
            </a:endParaRPr>
          </a:p>
        </p:txBody>
      </p:sp>
      <p:sp>
        <p:nvSpPr>
          <p:cNvPr id="177" name="CustomShape 3"/>
          <p:cNvSpPr/>
          <p:nvPr/>
        </p:nvSpPr>
        <p:spPr>
          <a:xfrm>
            <a:off x="8133120" y="4741200"/>
            <a:ext cx="76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47626103-328E-43D3-A865-A938597A60FE}" type="slidenum">
              <a:rPr lang="en-US" sz="1000" b="0" strike="noStrike" spc="-1">
                <a:solidFill>
                  <a:srgbClr val="000000"/>
                </a:solidFill>
                <a:latin typeface="Georgia"/>
                <a:ea typeface="DejaVu Sans"/>
              </a:rPr>
              <a:t>23</a:t>
            </a:fld>
            <a:endParaRPr lang="en-US" sz="1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7109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100"/>
      </a:dk2>
      <a:lt2>
        <a:srgbClr val="FFFFFF"/>
      </a:lt2>
      <a:accent1>
        <a:srgbClr val="4D6896"/>
      </a:accent1>
      <a:accent2>
        <a:srgbClr val="53B3AB"/>
      </a:accent2>
      <a:accent3>
        <a:srgbClr val="ACCF60"/>
      </a:accent3>
      <a:accent4>
        <a:srgbClr val="CF6438"/>
      </a:accent4>
      <a:accent5>
        <a:srgbClr val="E3E441"/>
      </a:accent5>
      <a:accent6>
        <a:srgbClr val="D2293A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100"/>
      </a:dk2>
      <a:lt2>
        <a:srgbClr val="FFFFFF"/>
      </a:lt2>
      <a:accent1>
        <a:srgbClr val="4D6896"/>
      </a:accent1>
      <a:accent2>
        <a:srgbClr val="53B3AB"/>
      </a:accent2>
      <a:accent3>
        <a:srgbClr val="ACCF60"/>
      </a:accent3>
      <a:accent4>
        <a:srgbClr val="CF6438"/>
      </a:accent4>
      <a:accent5>
        <a:srgbClr val="E3E441"/>
      </a:accent5>
      <a:accent6>
        <a:srgbClr val="D2293A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</TotalTime>
  <Words>530</Words>
  <Application>Microsoft Office PowerPoint</Application>
  <PresentationFormat>On-screen Show (16:9)</PresentationFormat>
  <Paragraphs>137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Georgia</vt:lpstr>
      <vt:lpstr>Symbol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tiffanyc</dc:creator>
  <dc:description/>
  <cp:lastModifiedBy>Jorge Murria</cp:lastModifiedBy>
  <cp:revision>61</cp:revision>
  <dcterms:created xsi:type="dcterms:W3CDTF">2014-06-10T16:44:14Z</dcterms:created>
  <dcterms:modified xsi:type="dcterms:W3CDTF">2021-12-14T14:07:59Z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On-screen Show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12</vt:i4>
  </property>
</Properties>
</file>